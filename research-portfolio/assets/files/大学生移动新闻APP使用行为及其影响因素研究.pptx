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5" r:id="rId3"/>
    <p:sldId id="400" r:id="rId5"/>
    <p:sldId id="478" r:id="rId6"/>
    <p:sldId id="479" r:id="rId7"/>
    <p:sldId id="465" r:id="rId8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0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幸全" initials="幸全" lastIdx="1" clrIdx="0"/>
  <p:cmAuthor id="2" name="作者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4986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63" autoAdjust="0"/>
    <p:restoredTop sz="94660"/>
  </p:normalViewPr>
  <p:slideViewPr>
    <p:cSldViewPr snapToGrid="0" showGuides="1">
      <p:cViewPr varScale="1">
        <p:scale>
          <a:sx n="64" d="100"/>
          <a:sy n="64" d="100"/>
        </p:scale>
        <p:origin x="728" y="68"/>
      </p:cViewPr>
      <p:guideLst>
        <p:guide orient="horz" pos="2160"/>
        <p:guide pos="40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77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F576198-4CF3-446F-B204-6B1848582D6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.jpeg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5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tags" Target="../tags/tag76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-11081" y="0"/>
            <a:ext cx="12203081" cy="809297"/>
          </a:xfrm>
          <a:prstGeom prst="rect">
            <a:avLst/>
          </a:prstGeom>
          <a:solidFill>
            <a:srgbClr val="094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67410" y="2807335"/>
            <a:ext cx="104463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3600" b="1" kern="100" dirty="0">
                <a:solidFill>
                  <a:srgbClr val="0943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大学生移动新闻APP使用行为及其影响因素研究</a:t>
            </a:r>
            <a:endParaRPr lang="zh-CN" altLang="en-US" sz="3600" b="1" kern="100" dirty="0">
              <a:solidFill>
                <a:srgbClr val="09438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lvl="0" algn="ctr"/>
            <a:r>
              <a:rPr lang="zh-CN" altLang="en-US" sz="3600" b="1" kern="100" dirty="0">
                <a:solidFill>
                  <a:srgbClr val="0943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——基于UTAUT2模型</a:t>
            </a:r>
            <a:endParaRPr lang="zh-CN" altLang="en-US" sz="3600" b="1" kern="100" dirty="0">
              <a:solidFill>
                <a:srgbClr val="09438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1019175" y="772268"/>
            <a:ext cx="5376567" cy="24188"/>
            <a:chOff x="228600" y="822960"/>
            <a:chExt cx="5376567" cy="24188"/>
          </a:xfrm>
        </p:grpSpPr>
        <p:cxnSp>
          <p:nvCxnSpPr>
            <p:cNvPr id="16" name="直接连接符 16"/>
            <p:cNvCxnSpPr/>
            <p:nvPr/>
          </p:nvCxnSpPr>
          <p:spPr>
            <a:xfrm>
              <a:off x="228600" y="822960"/>
              <a:ext cx="1402080" cy="0"/>
            </a:xfrm>
            <a:prstGeom prst="line">
              <a:avLst/>
            </a:prstGeom>
            <a:ln w="101600" cmpd="thinThick">
              <a:solidFill>
                <a:srgbClr val="0943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7"/>
            <p:cNvCxnSpPr/>
            <p:nvPr/>
          </p:nvCxnSpPr>
          <p:spPr>
            <a:xfrm>
              <a:off x="1505607" y="847148"/>
              <a:ext cx="4099560" cy="0"/>
            </a:xfrm>
            <a:prstGeom prst="line">
              <a:avLst/>
            </a:prstGeom>
            <a:ln w="57150">
              <a:solidFill>
                <a:srgbClr val="0943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标题 2"/>
          <p:cNvSpPr txBox="1"/>
          <p:nvPr/>
        </p:nvSpPr>
        <p:spPr>
          <a:xfrm>
            <a:off x="1019176" y="244583"/>
            <a:ext cx="6172528" cy="515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20000"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研究缘起、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问题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71220" y="1512570"/>
            <a:ext cx="1282065" cy="573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媒介融合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709930" y="3444875"/>
            <a:ext cx="1634490" cy="570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移动新闻</a:t>
            </a:r>
            <a:r>
              <a:rPr lang="en-US" altLang="zh-CN" dirty="0">
                <a:solidFill>
                  <a:schemeClr val="tx1"/>
                </a:solidFill>
              </a:rPr>
              <a:t>APP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954020" y="1402080"/>
            <a:ext cx="2945765" cy="7854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新特点、新趋势：数字化生存中人与媒介的</a:t>
            </a:r>
            <a:r>
              <a:rPr lang="zh-CN" altLang="en-US" dirty="0">
                <a:solidFill>
                  <a:schemeClr val="tx1"/>
                </a:solidFill>
              </a:rPr>
              <a:t>融合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8" name="直接箭头连接符 7"/>
          <p:cNvCxnSpPr>
            <a:stCxn id="2" idx="3"/>
            <a:endCxn id="5" idx="1"/>
          </p:cNvCxnSpPr>
          <p:nvPr/>
        </p:nvCxnSpPr>
        <p:spPr>
          <a:xfrm flipV="1">
            <a:off x="2153560" y="1795180"/>
            <a:ext cx="800735" cy="4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6715760" y="1494155"/>
            <a:ext cx="2479675" cy="6070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“</a:t>
            </a:r>
            <a:r>
              <a:rPr lang="zh-CN" altLang="en-US" dirty="0">
                <a:solidFill>
                  <a:schemeClr val="tx1"/>
                </a:solidFill>
              </a:rPr>
              <a:t>人</a:t>
            </a:r>
            <a:r>
              <a:rPr lang="en-US" altLang="zh-CN" dirty="0">
                <a:solidFill>
                  <a:schemeClr val="tx1"/>
                </a:solidFill>
              </a:rPr>
              <a:t>”</a:t>
            </a:r>
            <a:r>
              <a:rPr lang="zh-CN" altLang="en-US" dirty="0">
                <a:solidFill>
                  <a:schemeClr val="tx1"/>
                </a:solidFill>
              </a:rPr>
              <a:t>的主体性愈发</a:t>
            </a:r>
            <a:r>
              <a:rPr lang="zh-CN" altLang="en-US" dirty="0">
                <a:solidFill>
                  <a:schemeClr val="tx1"/>
                </a:solidFill>
              </a:rPr>
              <a:t>突出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1" name="直接箭头连接符 20"/>
          <p:cNvCxnSpPr>
            <a:stCxn id="5" idx="3"/>
            <a:endCxn id="19" idx="1"/>
          </p:cNvCxnSpPr>
          <p:nvPr/>
        </p:nvCxnSpPr>
        <p:spPr>
          <a:xfrm>
            <a:off x="5899916" y="1795025"/>
            <a:ext cx="815975" cy="2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3663315" y="3456305"/>
            <a:ext cx="2524125" cy="570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dirty="0">
                <a:solidFill>
                  <a:schemeClr val="tx1"/>
                </a:solidFill>
              </a:rPr>
              <a:t>产品成熟、</a:t>
            </a:r>
            <a:r>
              <a:rPr lang="zh-CN" altLang="en-US" dirty="0">
                <a:solidFill>
                  <a:schemeClr val="tx1"/>
                </a:solidFill>
              </a:rPr>
              <a:t>市场饱和</a:t>
            </a:r>
            <a:endParaRPr lang="zh-CN" altLang="en-US" dirty="0">
              <a:solidFill>
                <a:schemeClr val="tx1"/>
              </a:solidFill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同质化、竞争</a:t>
            </a:r>
            <a:r>
              <a:rPr lang="zh-CN" altLang="en-US" dirty="0">
                <a:solidFill>
                  <a:schemeClr val="tx1"/>
                </a:solidFill>
              </a:rPr>
              <a:t>激烈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2" name="直接箭头连接符 11"/>
          <p:cNvCxnSpPr/>
          <p:nvPr>
            <p:custDataLst>
              <p:tags r:id="rId2"/>
            </p:custDataLst>
          </p:nvPr>
        </p:nvCxnSpPr>
        <p:spPr>
          <a:xfrm>
            <a:off x="2346600" y="3730660"/>
            <a:ext cx="1315085" cy="1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endCxn id="14" idx="1"/>
          </p:cNvCxnSpPr>
          <p:nvPr>
            <p:custDataLst>
              <p:tags r:id="rId3"/>
            </p:custDataLst>
          </p:nvPr>
        </p:nvCxnSpPr>
        <p:spPr>
          <a:xfrm flipV="1">
            <a:off x="6185666" y="3741935"/>
            <a:ext cx="1516380" cy="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>
            <p:custDataLst>
              <p:tags r:id="rId4"/>
            </p:custDataLst>
          </p:nvPr>
        </p:nvSpPr>
        <p:spPr>
          <a:xfrm>
            <a:off x="7701915" y="3456305"/>
            <a:ext cx="1734820" cy="570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dirty="0">
                <a:solidFill>
                  <a:schemeClr val="tx1"/>
                </a:solidFill>
              </a:rPr>
              <a:t>用户需求</a:t>
            </a:r>
            <a:r>
              <a:rPr lang="zh-CN" altLang="en-US" dirty="0">
                <a:solidFill>
                  <a:schemeClr val="tx1"/>
                </a:solidFill>
              </a:rPr>
              <a:t>调研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>
            <p:custDataLst>
              <p:tags r:id="rId5"/>
            </p:custDataLst>
          </p:nvPr>
        </p:nvSpPr>
        <p:spPr>
          <a:xfrm>
            <a:off x="2252345" y="4819650"/>
            <a:ext cx="1579245" cy="5137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产品生命周期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23" name="直接箭头连接符 22"/>
          <p:cNvCxnSpPr>
            <a:stCxn id="20" idx="0"/>
          </p:cNvCxnSpPr>
          <p:nvPr/>
        </p:nvCxnSpPr>
        <p:spPr>
          <a:xfrm flipH="1" flipV="1">
            <a:off x="3028315" y="3729990"/>
            <a:ext cx="13970" cy="1089660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>
            <p:custDataLst>
              <p:tags r:id="rId6"/>
            </p:custDataLst>
          </p:nvPr>
        </p:nvSpPr>
        <p:spPr>
          <a:xfrm>
            <a:off x="6344334" y="3291862"/>
            <a:ext cx="11988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 dirty="0"/>
              <a:t>发展</a:t>
            </a:r>
            <a:r>
              <a:rPr lang="zh-CN" altLang="en-US" sz="1600" dirty="0"/>
              <a:t>突破口</a:t>
            </a:r>
            <a:endParaRPr lang="zh-CN" altLang="en-US" sz="1600" dirty="0"/>
          </a:p>
        </p:txBody>
      </p:sp>
      <p:sp>
        <p:nvSpPr>
          <p:cNvPr id="26" name="文本框 25"/>
          <p:cNvSpPr txBox="1"/>
          <p:nvPr>
            <p:custDataLst>
              <p:tags r:id="rId7"/>
            </p:custDataLst>
          </p:nvPr>
        </p:nvSpPr>
        <p:spPr>
          <a:xfrm>
            <a:off x="6445934" y="3876062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 dirty="0"/>
              <a:t>用户黏性</a:t>
            </a:r>
            <a:endParaRPr lang="zh-CN" altLang="en-US" sz="1600" dirty="0"/>
          </a:p>
          <a:p>
            <a:r>
              <a:rPr lang="zh-CN" altLang="en-US" sz="1600" dirty="0"/>
              <a:t>用户促活</a:t>
            </a:r>
            <a:endParaRPr lang="zh-CN" altLang="en-US" sz="1600" dirty="0"/>
          </a:p>
        </p:txBody>
      </p:sp>
      <p:cxnSp>
        <p:nvCxnSpPr>
          <p:cNvPr id="27" name="直接箭头连接符 26"/>
          <p:cNvCxnSpPr>
            <a:stCxn id="2" idx="2"/>
          </p:cNvCxnSpPr>
          <p:nvPr/>
        </p:nvCxnSpPr>
        <p:spPr>
          <a:xfrm>
            <a:off x="1512570" y="2085975"/>
            <a:ext cx="0" cy="13589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1557704" y="2596537"/>
            <a:ext cx="174117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 dirty="0"/>
              <a:t>代表性融媒</a:t>
            </a:r>
            <a:r>
              <a:rPr lang="en-US" altLang="zh-CN" sz="1600" dirty="0"/>
              <a:t>“</a:t>
            </a:r>
            <a:r>
              <a:rPr lang="zh-CN" altLang="en-US" sz="1600" dirty="0"/>
              <a:t>产品</a:t>
            </a:r>
            <a:r>
              <a:rPr lang="en-US" altLang="zh-CN" sz="1600" dirty="0"/>
              <a:t>”</a:t>
            </a:r>
            <a:endParaRPr lang="en-US" altLang="zh-CN" sz="1600" dirty="0"/>
          </a:p>
        </p:txBody>
      </p:sp>
      <p:sp>
        <p:nvSpPr>
          <p:cNvPr id="30" name="文本框 29"/>
          <p:cNvSpPr txBox="1"/>
          <p:nvPr/>
        </p:nvSpPr>
        <p:spPr>
          <a:xfrm>
            <a:off x="162560" y="940435"/>
            <a:ext cx="459740" cy="1656080"/>
          </a:xfrm>
          <a:prstGeom prst="rect">
            <a:avLst/>
          </a:prstGeom>
        </p:spPr>
        <p:txBody>
          <a:bodyPr vert="eaVert"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b="1" kern="100" dirty="0" err="1">
                <a:solidFill>
                  <a:srgbClr val="0943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理论发展脉络</a:t>
            </a:r>
            <a:endParaRPr lang="zh-CN" altLang="en-US" b="1" kern="100" dirty="0" err="1">
              <a:solidFill>
                <a:srgbClr val="09438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1" name="文本框 30"/>
          <p:cNvSpPr txBox="1"/>
          <p:nvPr>
            <p:custDataLst>
              <p:tags r:id="rId9"/>
            </p:custDataLst>
          </p:nvPr>
        </p:nvSpPr>
        <p:spPr>
          <a:xfrm>
            <a:off x="162560" y="3001645"/>
            <a:ext cx="459740" cy="1656080"/>
          </a:xfrm>
          <a:prstGeom prst="rect">
            <a:avLst/>
          </a:prstGeom>
        </p:spPr>
        <p:txBody>
          <a:bodyPr vert="eaVert"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b="1" kern="100" dirty="0" err="1">
                <a:solidFill>
                  <a:srgbClr val="0943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实践发展脉络</a:t>
            </a:r>
            <a:endParaRPr lang="zh-CN" altLang="en-US" b="1" kern="100" dirty="0" err="1">
              <a:solidFill>
                <a:srgbClr val="09438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2" name="矩形 31"/>
          <p:cNvSpPr/>
          <p:nvPr>
            <p:custDataLst>
              <p:tags r:id="rId10"/>
            </p:custDataLst>
          </p:nvPr>
        </p:nvSpPr>
        <p:spPr>
          <a:xfrm>
            <a:off x="9952355" y="2303145"/>
            <a:ext cx="2079625" cy="988695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dirty="0">
                <a:solidFill>
                  <a:schemeClr val="tx1"/>
                </a:solidFill>
              </a:rPr>
              <a:t>提出问题：</a:t>
            </a:r>
            <a:endParaRPr lang="zh-CN" altLang="en-US" dirty="0">
              <a:solidFill>
                <a:schemeClr val="tx1"/>
              </a:solidFill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当前媒介融合语境中用户的</a:t>
            </a:r>
            <a:r>
              <a:rPr lang="zh-CN" altLang="en-US" dirty="0">
                <a:solidFill>
                  <a:schemeClr val="tx1"/>
                </a:solidFill>
              </a:rPr>
              <a:t>需求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3" name="肘形连接符 32"/>
          <p:cNvCxnSpPr/>
          <p:nvPr/>
        </p:nvCxnSpPr>
        <p:spPr>
          <a:xfrm flipV="1">
            <a:off x="9436735" y="2724785"/>
            <a:ext cx="525780" cy="101727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肘形连接符 33"/>
          <p:cNvCxnSpPr>
            <a:stCxn id="19" idx="3"/>
          </p:cNvCxnSpPr>
          <p:nvPr/>
        </p:nvCxnSpPr>
        <p:spPr>
          <a:xfrm>
            <a:off x="9195435" y="1797685"/>
            <a:ext cx="767080" cy="927100"/>
          </a:xfrm>
          <a:prstGeom prst="bentConnector3">
            <a:avLst>
              <a:gd name="adj1" fmla="val 6589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>
            <p:custDataLst>
              <p:tags r:id="rId11"/>
            </p:custDataLst>
          </p:nvPr>
        </p:nvSpPr>
        <p:spPr>
          <a:xfrm>
            <a:off x="7035165" y="4819650"/>
            <a:ext cx="4016375" cy="5257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dirty="0">
                <a:solidFill>
                  <a:schemeClr val="tx1"/>
                </a:solidFill>
              </a:rPr>
              <a:t>研究问题：使用行为</a:t>
            </a:r>
            <a:r>
              <a:rPr lang="zh-CN" altLang="en-US" dirty="0">
                <a:solidFill>
                  <a:schemeClr val="tx1"/>
                </a:solidFill>
              </a:rPr>
              <a:t>及其影响因素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0" name="直接箭头连接符 39"/>
          <p:cNvCxnSpPr>
            <a:stCxn id="20" idx="3"/>
          </p:cNvCxnSpPr>
          <p:nvPr/>
        </p:nvCxnSpPr>
        <p:spPr>
          <a:xfrm>
            <a:off x="3831590" y="5076825"/>
            <a:ext cx="33839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8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860"/>
          <a:stretch>
            <a:fillRect/>
          </a:stretch>
        </p:blipFill>
        <p:spPr>
          <a:xfrm>
            <a:off x="871220" y="5435600"/>
            <a:ext cx="1792605" cy="135953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" name="肘形连接符 41"/>
          <p:cNvCxnSpPr/>
          <p:nvPr/>
        </p:nvCxnSpPr>
        <p:spPr>
          <a:xfrm rot="5400000">
            <a:off x="9285288" y="3112453"/>
            <a:ext cx="1465580" cy="1948815"/>
          </a:xfrm>
          <a:prstGeom prst="bentConnector3">
            <a:avLst>
              <a:gd name="adj1" fmla="val 6520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1019175" y="772268"/>
            <a:ext cx="5376567" cy="24188"/>
            <a:chOff x="228600" y="822960"/>
            <a:chExt cx="5376567" cy="24188"/>
          </a:xfrm>
        </p:grpSpPr>
        <p:cxnSp>
          <p:nvCxnSpPr>
            <p:cNvPr id="16" name="直接连接符 16"/>
            <p:cNvCxnSpPr/>
            <p:nvPr/>
          </p:nvCxnSpPr>
          <p:spPr>
            <a:xfrm>
              <a:off x="228600" y="822960"/>
              <a:ext cx="1402080" cy="0"/>
            </a:xfrm>
            <a:prstGeom prst="line">
              <a:avLst/>
            </a:prstGeom>
            <a:ln w="101600" cmpd="thinThick">
              <a:solidFill>
                <a:srgbClr val="0943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7"/>
            <p:cNvCxnSpPr/>
            <p:nvPr/>
          </p:nvCxnSpPr>
          <p:spPr>
            <a:xfrm>
              <a:off x="1505607" y="847148"/>
              <a:ext cx="4099560" cy="0"/>
            </a:xfrm>
            <a:prstGeom prst="line">
              <a:avLst/>
            </a:prstGeom>
            <a:ln w="57150">
              <a:solidFill>
                <a:srgbClr val="0943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8464" y="-88984"/>
            <a:ext cx="1302369" cy="1233898"/>
          </a:xfrm>
          <a:prstGeom prst="rect">
            <a:avLst/>
          </a:prstGeom>
        </p:spPr>
      </p:pic>
      <p:sp>
        <p:nvSpPr>
          <p:cNvPr id="3" name="标题 2"/>
          <p:cNvSpPr txBox="1"/>
          <p:nvPr/>
        </p:nvSpPr>
        <p:spPr>
          <a:xfrm>
            <a:off x="1019176" y="244583"/>
            <a:ext cx="6172528" cy="515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20000"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研究设计与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实施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1621790" y="2127885"/>
          <a:ext cx="8948420" cy="2960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6530"/>
                <a:gridCol w="6231890"/>
              </a:tblGrid>
              <a:tr h="493395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问卷前测、发放、回收</a:t>
                      </a:r>
                      <a:r>
                        <a:rPr lang="zh-CN" altLang="en-US"/>
                        <a:t>情况</a:t>
                      </a:r>
                      <a:endParaRPr lang="zh-CN" altLang="en-US"/>
                    </a:p>
                  </a:txBody>
                  <a:tcPr/>
                </a:tc>
                <a:tc hMerge="1">
                  <a:tcPr/>
                </a:tc>
              </a:tr>
              <a:tr h="49339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发放</a:t>
                      </a:r>
                      <a:r>
                        <a:rPr lang="zh-CN" altLang="en-US"/>
                        <a:t>渠道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线上大学生社群（微信、</a:t>
                      </a:r>
                      <a:r>
                        <a:rPr lang="en-US" altLang="zh-CN"/>
                        <a:t>QQ</a:t>
                      </a:r>
                      <a:r>
                        <a:rPr lang="zh-CN" altLang="en-US"/>
                        <a:t>、微博、</a:t>
                      </a:r>
                      <a:r>
                        <a:rPr lang="zh-CN" altLang="en-US"/>
                        <a:t>豆瓣）</a:t>
                      </a:r>
                      <a:endParaRPr lang="zh-CN" altLang="en-US"/>
                    </a:p>
                  </a:txBody>
                  <a:tcPr/>
                </a:tc>
              </a:tr>
              <a:tr h="49339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前测发放</a:t>
                      </a:r>
                      <a:r>
                        <a:rPr lang="zh-CN" altLang="en-US"/>
                        <a:t>问卷数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96</a:t>
                      </a:r>
                      <a:endParaRPr lang="en-US" altLang="zh-CN"/>
                    </a:p>
                  </a:txBody>
                  <a:tcPr/>
                </a:tc>
              </a:tr>
              <a:tr h="49339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>
                          <a:sym typeface="+mn-ea"/>
                        </a:rPr>
                        <a:t>前测</a:t>
                      </a:r>
                      <a:r>
                        <a:rPr lang="zh-CN" altLang="en-US">
                          <a:sym typeface="+mn-ea"/>
                        </a:rPr>
                        <a:t>有效问卷数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81</a:t>
                      </a:r>
                      <a:r>
                        <a:rPr lang="zh-CN" altLang="en-US"/>
                        <a:t>（有效回收率84.37 %）</a:t>
                      </a:r>
                      <a:endParaRPr lang="zh-CN" altLang="en-US"/>
                    </a:p>
                  </a:txBody>
                  <a:tcPr/>
                </a:tc>
              </a:tr>
              <a:tr h="49339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正式</a:t>
                      </a:r>
                      <a:r>
                        <a:rPr lang="zh-CN" altLang="en-US"/>
                        <a:t>发放问卷数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557</a:t>
                      </a:r>
                      <a:endParaRPr lang="en-US" altLang="zh-CN"/>
                    </a:p>
                  </a:txBody>
                  <a:tcPr/>
                </a:tc>
              </a:tr>
              <a:tr h="49339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正式有效问卷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453</a:t>
                      </a:r>
                      <a:r>
                        <a:rPr lang="zh-CN" altLang="en-US"/>
                        <a:t>（有效回收率</a:t>
                      </a:r>
                      <a:r>
                        <a:rPr lang="en-US" altLang="zh-CN"/>
                        <a:t>81.32%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1019175" y="772268"/>
            <a:ext cx="5376567" cy="24188"/>
            <a:chOff x="228600" y="822960"/>
            <a:chExt cx="5376567" cy="24188"/>
          </a:xfrm>
        </p:grpSpPr>
        <p:cxnSp>
          <p:nvCxnSpPr>
            <p:cNvPr id="16" name="直接连接符 16"/>
            <p:cNvCxnSpPr/>
            <p:nvPr/>
          </p:nvCxnSpPr>
          <p:spPr>
            <a:xfrm>
              <a:off x="228600" y="822960"/>
              <a:ext cx="1402080" cy="0"/>
            </a:xfrm>
            <a:prstGeom prst="line">
              <a:avLst/>
            </a:prstGeom>
            <a:ln w="101600" cmpd="thinThick">
              <a:solidFill>
                <a:srgbClr val="0943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7"/>
            <p:cNvCxnSpPr/>
            <p:nvPr/>
          </p:nvCxnSpPr>
          <p:spPr>
            <a:xfrm>
              <a:off x="1505607" y="847148"/>
              <a:ext cx="4099560" cy="0"/>
            </a:xfrm>
            <a:prstGeom prst="line">
              <a:avLst/>
            </a:prstGeom>
            <a:ln w="57150">
              <a:solidFill>
                <a:srgbClr val="0943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8464" y="-88984"/>
            <a:ext cx="1302369" cy="1233898"/>
          </a:xfrm>
          <a:prstGeom prst="rect">
            <a:avLst/>
          </a:prstGeom>
        </p:spPr>
      </p:pic>
      <p:sp>
        <p:nvSpPr>
          <p:cNvPr id="3" name="标题 2"/>
          <p:cNvSpPr txBox="1"/>
          <p:nvPr/>
        </p:nvSpPr>
        <p:spPr>
          <a:xfrm>
            <a:off x="1019176" y="244583"/>
            <a:ext cx="6172528" cy="515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20000"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研究设计与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实施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76240" y="5857240"/>
            <a:ext cx="124015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dirty="0">
                <a:sym typeface="+mn-ea"/>
              </a:rPr>
              <a:t>最终模型</a:t>
            </a:r>
            <a:endParaRPr lang="zh-CN" altLang="en-US" sz="2000" dirty="0">
              <a:sym typeface="+mn-ea"/>
            </a:endParaRPr>
          </a:p>
        </p:txBody>
      </p:sp>
      <p:pic>
        <p:nvPicPr>
          <p:cNvPr id="7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540" y="1001395"/>
            <a:ext cx="8631555" cy="48558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1019175" y="772268"/>
            <a:ext cx="5376567" cy="24188"/>
            <a:chOff x="228600" y="822960"/>
            <a:chExt cx="5376567" cy="24188"/>
          </a:xfrm>
        </p:grpSpPr>
        <p:cxnSp>
          <p:nvCxnSpPr>
            <p:cNvPr id="16" name="直接连接符 16"/>
            <p:cNvCxnSpPr/>
            <p:nvPr/>
          </p:nvCxnSpPr>
          <p:spPr>
            <a:xfrm>
              <a:off x="228600" y="822960"/>
              <a:ext cx="1402080" cy="0"/>
            </a:xfrm>
            <a:prstGeom prst="line">
              <a:avLst/>
            </a:prstGeom>
            <a:ln w="101600" cmpd="thinThick">
              <a:solidFill>
                <a:srgbClr val="0943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7"/>
            <p:cNvCxnSpPr/>
            <p:nvPr/>
          </p:nvCxnSpPr>
          <p:spPr>
            <a:xfrm>
              <a:off x="1505607" y="847148"/>
              <a:ext cx="4099560" cy="0"/>
            </a:xfrm>
            <a:prstGeom prst="line">
              <a:avLst/>
            </a:prstGeom>
            <a:ln w="57150">
              <a:solidFill>
                <a:srgbClr val="0943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8464" y="-88984"/>
            <a:ext cx="1302369" cy="1233898"/>
          </a:xfrm>
          <a:prstGeom prst="rect">
            <a:avLst/>
          </a:prstGeom>
        </p:spPr>
      </p:pic>
      <p:sp>
        <p:nvSpPr>
          <p:cNvPr id="3" name="标题 2"/>
          <p:cNvSpPr txBox="1"/>
          <p:nvPr/>
        </p:nvSpPr>
        <p:spPr>
          <a:xfrm>
            <a:off x="1019176" y="244583"/>
            <a:ext cx="6172528" cy="515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20000"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研究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发现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96035" y="1499649"/>
            <a:ext cx="9599930" cy="4184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None/>
            </a:pPr>
            <a:r>
              <a:rPr lang="zh-CN" altLang="en-US" sz="2400" b="1" kern="100" dirty="0" err="1">
                <a:solidFill>
                  <a:srgbClr val="0943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使用：</a:t>
            </a:r>
            <a:r>
              <a:rPr lang="zh-CN" altLang="en-US" sz="2400" dirty="0">
                <a:sym typeface="+mn-ea"/>
              </a:rPr>
              <a:t>阅读习惯碎片化、选择偏好多样化</a:t>
            </a:r>
            <a:endParaRPr lang="zh-CN" altLang="en-US" sz="2400" dirty="0">
              <a:sym typeface="+mn-ea"/>
            </a:endParaRPr>
          </a:p>
          <a:p>
            <a:pPr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None/>
            </a:pPr>
            <a:endParaRPr lang="zh-CN" altLang="en-US" sz="2400" dirty="0">
              <a:sym typeface="+mn-ea"/>
            </a:endParaRPr>
          </a:p>
          <a:p>
            <a:pPr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None/>
            </a:pPr>
            <a:r>
              <a:rPr lang="zh-CN" altLang="en-US" sz="2400" b="1" kern="100" dirty="0" err="1">
                <a:solidFill>
                  <a:srgbClr val="0943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满足：</a:t>
            </a:r>
            <a:r>
              <a:rPr lang="en-US" altLang="zh-CN" sz="2400" dirty="0">
                <a:sym typeface="+mn-ea"/>
              </a:rPr>
              <a:t>1</a:t>
            </a:r>
            <a:r>
              <a:rPr lang="zh-CN" altLang="en-US" sz="2400" dirty="0">
                <a:sym typeface="+mn-ea"/>
              </a:rPr>
              <a:t>、享乐动机：</a:t>
            </a:r>
            <a:r>
              <a:rPr lang="en-US" altLang="zh-CN" sz="2400" dirty="0">
                <a:sym typeface="+mn-ea"/>
              </a:rPr>
              <a:t>娱乐转向</a:t>
            </a:r>
            <a:r>
              <a:rPr lang="zh-CN" altLang="en-US" sz="2400" dirty="0">
                <a:sym typeface="+mn-ea"/>
              </a:rPr>
              <a:t>与</a:t>
            </a:r>
            <a:r>
              <a:rPr lang="en-US" altLang="zh-CN" sz="2400" dirty="0">
                <a:sym typeface="+mn-ea"/>
              </a:rPr>
              <a:t>媒介融合中的文化缺失</a:t>
            </a:r>
            <a:endParaRPr lang="en-US" altLang="zh-CN" sz="2400" dirty="0">
              <a:sym typeface="+mn-ea"/>
            </a:endParaRPr>
          </a:p>
          <a:p>
            <a:pPr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None/>
            </a:pPr>
            <a:r>
              <a:rPr lang="en-US" altLang="zh-CN" sz="2400" dirty="0">
                <a:sym typeface="+mn-ea"/>
              </a:rPr>
              <a:t>2</a:t>
            </a:r>
            <a:r>
              <a:rPr lang="zh-CN" altLang="en-US" sz="2400" dirty="0">
                <a:sym typeface="+mn-ea"/>
              </a:rPr>
              <a:t>、媒介信任与社会影响：个人与社会的媒介信赖</a:t>
            </a:r>
            <a:endParaRPr lang="zh-CN" altLang="en-US" sz="2400" dirty="0">
              <a:sym typeface="+mn-ea"/>
            </a:endParaRPr>
          </a:p>
          <a:p>
            <a:pPr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None/>
            </a:pPr>
            <a:r>
              <a:rPr lang="en-US" altLang="zh-CN" sz="2400" dirty="0">
                <a:sym typeface="+mn-ea"/>
              </a:rPr>
              <a:t>3</a:t>
            </a:r>
            <a:r>
              <a:rPr lang="zh-CN" altLang="en-US" sz="2400" dirty="0">
                <a:sym typeface="+mn-ea"/>
              </a:rPr>
              <a:t>、内容与技术：媒介权衡与需求变化</a:t>
            </a:r>
            <a:endParaRPr lang="zh-CN" altLang="en-US" sz="2400" dirty="0">
              <a:sym typeface="+mn-ea"/>
            </a:endParaRPr>
          </a:p>
          <a:p>
            <a:pPr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None/>
            </a:pPr>
            <a:r>
              <a:rPr sz="2400" dirty="0">
                <a:sym typeface="+mn-ea"/>
              </a:rPr>
              <a:t>  </a:t>
            </a:r>
            <a:endParaRPr sz="24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UNIT_TABLE_BEAUTIFY" val="smartTable{5865ba7f-17db-4a78-b795-db23dd321a6c}"/>
  <p:tag name="TABLE_ENDDRAG_ORIGIN_RECT" val="704*232"/>
  <p:tag name="TABLE_ENDDRAG_RECT" val="151*167*704*232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PP_MARK_KEY" val="c4079a8b-ba52-45fe-b435-b64e531b2a26"/>
  <p:tag name="COMMONDATA" val="eyJoZGlkIjoiNmI0OGZjYjM2MzFjMDUwYjNiZGQ0YzU0ODc1MjAyN2U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</Words>
  <Application>WPS 演示</Application>
  <PresentationFormat>宽屏</PresentationFormat>
  <Paragraphs>75</Paragraphs>
  <Slides>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Wingdings</vt:lpstr>
      <vt:lpstr>等线</vt:lpstr>
      <vt:lpstr>Arial Unicode MS</vt:lpstr>
      <vt:lpstr>Calibri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DANYAN QIN</dc:creator>
  <cp:lastModifiedBy>Danyan Q</cp:lastModifiedBy>
  <cp:revision>365</cp:revision>
  <dcterms:created xsi:type="dcterms:W3CDTF">2022-05-04T08:38:00Z</dcterms:created>
  <dcterms:modified xsi:type="dcterms:W3CDTF">2026-09-16T09:57:35Z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D77367F75BAE42DF95B6838ECDB8B0D5</vt:lpwstr>
  </property>
</Properties>
</file>